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65392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Fraud Detection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Risk Monitoring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E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Mobile Payments: The Case of Ghana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6459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Defence Presentation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and Information Science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Kwame Nkrumah University of Science and Technology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Money Fraud in Ghana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$1.8 B+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06040" y="159105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mobile money fraud across Sub-Saharan Africa annually (FATF 2023)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315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042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93 %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06040" y="2340864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Ghanaians use mobile money as a primary financial channel (BoG 2024)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8229600" cy="7315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540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 systems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309067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excessive false positives and miss novel fraud patterns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8229600" cy="7315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039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06040" y="38404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Ghana-specific AI fraud detection system with real-time monitoring exists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61104"/>
            <a:ext cx="8229600" cy="7315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Study Set Out to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66928" cy="5669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225296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stacked ensemble ML model that combines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XGBoost / LightGBM, and LSTM.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566928" cy="5669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322576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 across three public fraud datasets: Credit Card,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IEEE-CIS, and PaySim mobile money simulation.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383280"/>
            <a:ext cx="566928" cy="5669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56432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419856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near real-time fraud scoring dashboard with REST API,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stream, and SHAP-based transaction explanation.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Exists — and What Was Missing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103120" cy="29260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5214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115568"/>
            <a:ext cx="2103120" cy="29260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15214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115568"/>
            <a:ext cx="2560320" cy="29260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Contribution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210312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Lokanan (2023)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481328"/>
            <a:ext cx="210312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+ 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1481328"/>
            <a:ext cx="256032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ensemble, no real-time, no 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39696"/>
            <a:ext cx="2103120" cy="594360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2128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Botchey et al. (2020)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2139696"/>
            <a:ext cx="2103120" cy="594360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22128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GBT comparison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139696"/>
            <a:ext cx="2560320" cy="594360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2128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LSTM, no stacking, no SHAP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798064"/>
            <a:ext cx="210312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8712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Hajek et al. (2022)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2798064"/>
            <a:ext cx="210312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28712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mobile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798064"/>
            <a:ext cx="256032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8712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Ghana context, no live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56432"/>
            <a:ext cx="2103120" cy="594360"/>
          </a:xfrm>
          <a:prstGeom prst="rect">
            <a:avLst/>
          </a:prstGeom>
          <a:solidFill>
            <a:srgbClr val="E8F5E9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5295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3456432"/>
            <a:ext cx="2103120" cy="594360"/>
          </a:xfrm>
          <a:prstGeom prst="rect">
            <a:avLst/>
          </a:prstGeom>
          <a:solidFill>
            <a:srgbClr val="E8F5E9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35295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 + LSTM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real-time system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456432"/>
            <a:ext cx="2560320" cy="594360"/>
          </a:xfrm>
          <a:prstGeom prst="rect">
            <a:avLst/>
          </a:prstGeom>
          <a:solidFill>
            <a:srgbClr val="E8F5E9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5295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all three gaps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(§3.2)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 · Design-Science · Experimental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560320"/>
          </a:xfrm>
          <a:prstGeom prst="rect">
            <a:avLst/>
          </a:prstGeom>
          <a:solidFill>
            <a:srgbClr val="16244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91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23408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transaction records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performance metrics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AUC, MCC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560320"/>
          </a:xfrm>
          <a:prstGeom prst="rect">
            <a:avLst/>
          </a:prstGeom>
          <a:solidFill>
            <a:srgbClr val="16244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91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Design-Science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1993392"/>
            <a:ext cx="23408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 creation &amp; evaluation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(Hevner et al. 2004)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Dashboard = artefacts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2560320"/>
          </a:xfrm>
          <a:prstGeom prst="rect">
            <a:avLst/>
          </a:prstGeom>
          <a:solidFill>
            <a:srgbClr val="162447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591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993392"/>
            <a:ext cx="23408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models trained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identical conditions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(§3.3)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Public Fraud Datasets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45720" cy="98755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Card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ULB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2618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284,807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12618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0.173 %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16459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severe imbalance handling, false-positive control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8503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31720"/>
            <a:ext cx="45720" cy="98755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04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IEEE-CIS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4048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590,540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27889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24048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3.500 %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06240" y="27889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24688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Extended: device, identity &amp; behavioural feature engineering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8503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74720"/>
            <a:ext cx="45720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PaySim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Lopez-Rojas (2016)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5478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1,048,575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468880" y="39319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35478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1.290 %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06240" y="39319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36118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mobile money behaviour, LSTM sequences, 5 engineered features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(§3.4 / §4.3–4.5)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CRISP-DM Pipeline + Five Engineered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Remove leakage fields (isFlaggedFraud, nameOrig, nameDest)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Drop duplicates; standardise data types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121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Median imputation (numeric) · MISSING sentinel (categorical)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6426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One-hot encode low-cardinality fields; target encode high-cardinality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1638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MinMaxScaler on all continuous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6850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SMOTE-ENN on training set only (3-part imbalance strategy)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1024128"/>
            <a:ext cx="3474720" cy="3383280"/>
          </a:xfrm>
          <a:prstGeom prst="rect">
            <a:avLst/>
          </a:prstGeom>
          <a:solidFill>
            <a:srgbClr val="EBF5FF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0789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Engineered Features — PaySim (§4.5)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68112" y="14630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velocity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68112" y="1691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prior transfer count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68112" y="20116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 deviation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68112" y="2240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vs account history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68112" y="25603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drop flag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68112" y="27889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balance → 0 after transfer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68112" y="31089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Counterparty spread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68112" y="33375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destinations per origin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68112" y="36576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balance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68112" y="3886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|oldBal + amount − newBal|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(§3.5 / §3.6)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Stacked Ensemble — Level 0 → Level 1 → Final Score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691640" cy="914400"/>
          </a:xfrm>
          <a:prstGeom prst="rect">
            <a:avLst/>
          </a:prstGeom>
          <a:solidFill>
            <a:srgbClr val="2E9CBF">
              <a:alpha val="12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59105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84708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§3.5.1.1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20140" y="2468880"/>
            <a:ext cx="0" cy="45720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tailEnd type="open"/>
          </a:ln>
        </p:spPr>
      </p:sp>
      <p:sp>
        <p:nvSpPr>
          <p:cNvPr id="9" name="Shape 7"/>
          <p:cNvSpPr/>
          <p:nvPr/>
        </p:nvSpPr>
        <p:spPr>
          <a:xfrm>
            <a:off x="2240280" y="1554480"/>
            <a:ext cx="1691640" cy="914400"/>
          </a:xfrm>
          <a:prstGeom prst="rect">
            <a:avLst/>
          </a:prstGeom>
          <a:solidFill>
            <a:srgbClr val="2E9CBF">
              <a:alpha val="12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5144" y="159105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95144" y="184708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§3.5.1.2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86100" y="2468880"/>
            <a:ext cx="0" cy="45720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tailEnd type="open"/>
          </a:ln>
        </p:spPr>
      </p:sp>
      <p:sp>
        <p:nvSpPr>
          <p:cNvPr id="13" name="Shape 11"/>
          <p:cNvSpPr/>
          <p:nvPr/>
        </p:nvSpPr>
        <p:spPr>
          <a:xfrm>
            <a:off x="4206240" y="1554480"/>
            <a:ext cx="1691640" cy="914400"/>
          </a:xfrm>
          <a:prstGeom prst="rect">
            <a:avLst/>
          </a:prstGeom>
          <a:solidFill>
            <a:srgbClr val="2E9CBF">
              <a:alpha val="12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1104" y="159105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61104" y="184708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§3.5.1.3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52060" y="2468880"/>
            <a:ext cx="0" cy="45720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6172200" y="1554480"/>
            <a:ext cx="1691640" cy="914400"/>
          </a:xfrm>
          <a:prstGeom prst="rect">
            <a:avLst/>
          </a:prstGeom>
          <a:solidFill>
            <a:srgbClr val="2E9CBF">
              <a:alpha val="12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59105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27064" y="184708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§3.5.1.4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only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18020" y="2468880"/>
            <a:ext cx="0" cy="45720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1691640" y="2926080"/>
            <a:ext cx="5486400" cy="594360"/>
          </a:xfrm>
          <a:prstGeom prst="rect">
            <a:avLst/>
          </a:prstGeom>
          <a:solidFill>
            <a:srgbClr val="1624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55648" y="3017520"/>
            <a:ext cx="5358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matrix  Z  (5 OOF probability columns)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3520440"/>
            <a:ext cx="0" cy="36576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tailEnd type="open"/>
          </a:ln>
        </p:spPr>
      </p:sp>
      <p:sp>
        <p:nvSpPr>
          <p:cNvPr id="24" name="Shape 22"/>
          <p:cNvSpPr/>
          <p:nvPr/>
        </p:nvSpPr>
        <p:spPr>
          <a:xfrm>
            <a:off x="3017520" y="3886200"/>
            <a:ext cx="2834640" cy="594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3977640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Meta-Model  →  p̂_final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Wolpert (1992)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GATE EQUATIONS (§3.5.1.4)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Short-Term Memory — Sequence Fraud Detection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  =  σ( W_f · [h_{t-1}, x_t] + b_f 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discard from memory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9842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i_t  =  σ( W_i · [h_{t-1}, x_t] + b_i 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984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what new info enters memory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511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cell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5511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c̃_t  =  tanh( W_c · [h_{t-1}, x_t] + b_c 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5511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candidate information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181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1181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  =  f_t ⊙ c_{t-1}  +  i_t ⊙ c̃_t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1181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long-term memory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6850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6850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  =  σ( W_o · [h_{t-1}, x_t] + b_o 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685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hidden state output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4251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 =  o_t ⊙ tanh( c_t 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output for prediction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10 transactions per account  |  Architecture: LSTM(64) → Dropout(0.3) → Dense(1, sigmoid)  |  Adam lr=0.001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 (§3.8)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Models Were Judged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1762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flagged txns, % truly fraudulent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0175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3090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" y="3401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fraud, % caught — most critical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91456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21762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AUC-ROC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91456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across all thresholds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3090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3401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measure; robust to class imbalance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1148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Threshold tuning (F1-maximising)  |  5-fold stratified CV  |  Time-based 60/40 split  |  Latency (ms)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INDIVIDUAL MODELS (§5.3 TABLE 9)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PaySim Test-Set Performance — All Five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292608"/>
          </a:xfrm>
          <a:prstGeom prst="rect">
            <a:avLst/>
          </a:prstGeom>
          <a:solidFill>
            <a:srgbClr val="162447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6128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40864" y="1161288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12464" y="11612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9744" y="11612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07024" y="11612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04304" y="11612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444752"/>
            <a:ext cx="85953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49047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40864" y="149047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12464" y="149047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149047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07024" y="149047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04304" y="149047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920240"/>
            <a:ext cx="85953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19659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40864" y="1965960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12464" y="196596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196596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07024" y="196596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04304" y="196596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395728"/>
            <a:ext cx="85953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44144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40864" y="2441448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12464" y="24414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9744" y="24414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07024" y="24414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04304" y="24414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871216"/>
            <a:ext cx="85953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291693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40864" y="2916936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12464" y="291693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9744" y="291693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07024" y="291693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04304" y="291693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346704"/>
            <a:ext cx="85953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" y="3392424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40864" y="339242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712464" y="339242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9744" y="339242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07024" y="339242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04304" y="339242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822192"/>
            <a:ext cx="8595360" cy="292608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386791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40864" y="386791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12464" y="38679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9744" y="38679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07024" y="38679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04304" y="38679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 outperforms all individual models on every metric.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 ADVANTAGE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Stacking Outperforms Any Single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561966"/>
            <a:ext cx="786384" cy="1872874"/>
          </a:xfrm>
          <a:prstGeom prst="rect">
            <a:avLst/>
          </a:prstGeom>
          <a:solidFill>
            <a:srgbClr val="1A6B8A">
              <a:alpha val="5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899928"/>
            <a:ext cx="493776" cy="1534912"/>
          </a:xfrm>
          <a:prstGeom prst="rect">
            <a:avLst/>
          </a:prstGeom>
          <a:solidFill>
            <a:srgbClr val="2E9CBF">
              <a:alpha val="70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438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56816" y="2509662"/>
            <a:ext cx="786384" cy="1925178"/>
          </a:xfrm>
          <a:prstGeom prst="rect">
            <a:avLst/>
          </a:prstGeom>
          <a:solidFill>
            <a:srgbClr val="1A6B8A">
              <a:alpha val="5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745029"/>
            <a:ext cx="493776" cy="1689811"/>
          </a:xfrm>
          <a:prstGeom prst="rect">
            <a:avLst/>
          </a:prstGeom>
          <a:solidFill>
            <a:srgbClr val="2E9CBF">
              <a:alpha val="70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38528" y="2488997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55264" y="2495580"/>
            <a:ext cx="786384" cy="1939260"/>
          </a:xfrm>
          <a:prstGeom prst="rect">
            <a:avLst/>
          </a:prstGeom>
          <a:solidFill>
            <a:srgbClr val="1A6B8A">
              <a:alpha val="5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702784"/>
            <a:ext cx="493776" cy="1732056"/>
          </a:xfrm>
          <a:prstGeom prst="rect">
            <a:avLst/>
          </a:prstGeom>
          <a:solidFill>
            <a:srgbClr val="2E9CBF">
              <a:alpha val="70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36976" y="244675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53712" y="2501616"/>
            <a:ext cx="786384" cy="1933224"/>
          </a:xfrm>
          <a:prstGeom prst="rect">
            <a:avLst/>
          </a:prstGeom>
          <a:solidFill>
            <a:srgbClr val="1A6B8A">
              <a:alpha val="5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0016" y="2714854"/>
            <a:ext cx="493776" cy="1719986"/>
          </a:xfrm>
          <a:prstGeom prst="rect">
            <a:avLst/>
          </a:prstGeom>
          <a:solidFill>
            <a:srgbClr val="2E9CBF">
              <a:alpha val="70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35424" y="245882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2527767"/>
            <a:ext cx="786384" cy="1907073"/>
          </a:xfrm>
          <a:prstGeom prst="rect">
            <a:avLst/>
          </a:prstGeom>
          <a:solidFill>
            <a:srgbClr val="1A6B8A">
              <a:alpha val="50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98464" y="2779227"/>
            <a:ext cx="493776" cy="1655613"/>
          </a:xfrm>
          <a:prstGeom prst="rect">
            <a:avLst/>
          </a:prstGeom>
          <a:solidFill>
            <a:srgbClr val="2E9CBF">
              <a:alpha val="70000"/>
            </a:srgbClr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33872" y="2523195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50608" y="2467417"/>
            <a:ext cx="786384" cy="1967423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96912" y="2650480"/>
            <a:ext cx="493776" cy="178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23944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1554480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33488" y="1536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46720" y="1554480"/>
            <a:ext cx="164592" cy="16459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1536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STABILITY (§5.4 TABLE 10)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 CV — Stability Confirms Generalisation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194560" cy="29260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521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115568"/>
            <a:ext cx="2057400" cy="29260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15214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Mean±SD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2057400" cy="29260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15214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Mean±SD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03720" y="1115568"/>
            <a:ext cx="1920240" cy="29260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11521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Mean±SD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444752"/>
            <a:ext cx="21945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5361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06040" y="1444752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53619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 ± 0.008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444752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53619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 ± 0.011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1444752"/>
            <a:ext cx="19202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5361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0.758 ± 0.009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1920240"/>
            <a:ext cx="219456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0116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06040" y="1920240"/>
            <a:ext cx="20574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201168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0.863 ± 0.005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920240"/>
            <a:ext cx="20574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01168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0.808 ± 0.007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03720" y="1920240"/>
            <a:ext cx="192024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20116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 ± 0.006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395728"/>
            <a:ext cx="21945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48716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2395728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9192" y="248716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 ± 0.004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2395728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48716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 ± 0.006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03720" y="2395728"/>
            <a:ext cx="19202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76872" y="24871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 ± 0.005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2871216"/>
            <a:ext cx="219456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296265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606040" y="2871216"/>
            <a:ext cx="20574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79192" y="2962656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0.871 ± 0.005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2871216"/>
            <a:ext cx="205740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962656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 ± 0.007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03720" y="2871216"/>
            <a:ext cx="1920240" cy="420624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29626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 ± 0.006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3346704"/>
            <a:ext cx="21945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4381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606040" y="3346704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9192" y="343814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 ± 0.009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3346704"/>
            <a:ext cx="2057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43814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 ± 0.010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03720" y="3346704"/>
            <a:ext cx="19202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76872" y="34381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0.818 ± 0.009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3822192"/>
            <a:ext cx="2194560" cy="420624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391363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606040" y="3822192"/>
            <a:ext cx="2057400" cy="420624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79192" y="391363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 ± 0.003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54880" y="3822192"/>
            <a:ext cx="2057400" cy="420624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91363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 ± 0.005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03720" y="3822192"/>
            <a:ext cx="1920240" cy="420624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76872" y="39136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 ± 0.004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20040" y="45902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 SD = 0.004 — lowest variance of all models.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SHAP (§4.8 / §5.5 TABLE 11)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Fraud Predictions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453896"/>
            <a:ext cx="47548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type_TRANSFER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792224"/>
            <a:ext cx="3537761" cy="201168"/>
          </a:xfrm>
          <a:prstGeom prst="rect">
            <a:avLst/>
          </a:prstGeom>
          <a:solidFill>
            <a:srgbClr val="2E9CBF"/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001" y="1755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93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balance_drop_flag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130552"/>
            <a:ext cx="3034685" cy="201168"/>
          </a:xfrm>
          <a:prstGeom prst="rect">
            <a:avLst/>
          </a:prstGeom>
          <a:solidFill>
            <a:srgbClr val="2E9CBF"/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7925" y="20939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432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newbalanceDest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468880"/>
            <a:ext cx="2661435" cy="201168"/>
          </a:xfrm>
          <a:prstGeom prst="rect">
            <a:avLst/>
          </a:prstGeom>
          <a:solidFill>
            <a:srgbClr val="2E9CBF"/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4675" y="24323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770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transaction_velocity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2807208"/>
            <a:ext cx="2564065" cy="201168"/>
          </a:xfrm>
          <a:prstGeom prst="rect">
            <a:avLst/>
          </a:prstGeom>
          <a:solidFill>
            <a:srgbClr val="2E9CBF"/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7305" y="27706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oldbalanceDest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0" y="3145536"/>
            <a:ext cx="2304413" cy="201168"/>
          </a:xfrm>
          <a:prstGeom prst="rect">
            <a:avLst/>
          </a:prstGeom>
          <a:solidFill>
            <a:srgbClr val="8EA8C3">
              <a:alpha val="60000"/>
            </a:srgbClr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653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447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type_CASH_OUT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3483864"/>
            <a:ext cx="2125902" cy="201168"/>
          </a:xfrm>
          <a:prstGeom prst="rect">
            <a:avLst/>
          </a:prstGeom>
          <a:solidFill>
            <a:srgbClr val="8EA8C3">
              <a:alpha val="60000"/>
            </a:srgbClr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9142" y="34472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amount_deviation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3822192"/>
            <a:ext cx="1931163" cy="201168"/>
          </a:xfrm>
          <a:prstGeom prst="rect">
            <a:avLst/>
          </a:prstGeom>
          <a:solidFill>
            <a:srgbClr val="8EA8C3">
              <a:alpha val="60000"/>
            </a:srgbClr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4403" y="37856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123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counterparty_spread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7520" y="4160520"/>
            <a:ext cx="1590369" cy="201168"/>
          </a:xfrm>
          <a:prstGeom prst="rect">
            <a:avLst/>
          </a:prstGeom>
          <a:solidFill>
            <a:srgbClr val="8EA8C3">
              <a:alpha val="60000"/>
            </a:srgbClr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3609" y="41239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462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error_balance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0" y="4498848"/>
            <a:ext cx="1200891" cy="201168"/>
          </a:xfrm>
          <a:prstGeom prst="rect">
            <a:avLst/>
          </a:prstGeom>
          <a:solidFill>
            <a:srgbClr val="8EA8C3">
              <a:alpha val="60000"/>
            </a:srgbClr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4131" y="4462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681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top 10 features are engineered — confirming §4.5 investment was worthwhile.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RESULTS (§5.6 TABLE 12)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Stacked Ensemble Generalises Across All Three Datasets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737360" cy="310896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408176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371600" cy="310896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03704" y="1408176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371600"/>
            <a:ext cx="1188720" cy="310896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1408176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371600"/>
            <a:ext cx="1097280" cy="310896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408176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1097280" cy="310896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1408176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69480" y="1371600"/>
            <a:ext cx="1554480" cy="310896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4344" y="1408176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719072"/>
            <a:ext cx="1737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18653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(EU)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1719072"/>
            <a:ext cx="13716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186537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1719072"/>
            <a:ext cx="1188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1865376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0.173 %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719072"/>
            <a:ext cx="10972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186537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719072"/>
            <a:ext cx="10972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1865376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1719072"/>
            <a:ext cx="15544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1865376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468880"/>
            <a:ext cx="1737360" cy="658368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261518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48840" y="2468880"/>
            <a:ext cx="1371600" cy="658368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03704" y="2615184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590,540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11880" y="2468880"/>
            <a:ext cx="1188720" cy="658368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66744" y="2615184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3.500 %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468880"/>
            <a:ext cx="1097280" cy="658368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46904" y="261518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2468880"/>
            <a:ext cx="1097280" cy="658368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5624" y="261518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69480" y="2468880"/>
            <a:ext cx="1554480" cy="658368"/>
          </a:xfrm>
          <a:prstGeom prst="rect">
            <a:avLst/>
          </a:prstGeom>
          <a:solidFill>
            <a:srgbClr val="F4F7FB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24344" y="2615184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218688"/>
            <a:ext cx="1737360" cy="658368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" y="336499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(primary)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48840" y="3218688"/>
            <a:ext cx="1371600" cy="658368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03704" y="336499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1,048,575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11880" y="3218688"/>
            <a:ext cx="1188720" cy="658368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66744" y="3364992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1.290 %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3218688"/>
            <a:ext cx="1097280" cy="658368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46904" y="336499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80760" y="3218688"/>
            <a:ext cx="1097280" cy="658368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35624" y="3364992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69480" y="3218688"/>
            <a:ext cx="1554480" cy="658368"/>
          </a:xfrm>
          <a:prstGeom prst="rect">
            <a:avLst/>
          </a:prstGeom>
          <a:solidFill>
            <a:srgbClr val="EBF5FF"/>
          </a:solidFill>
          <a:ln w="3810">
            <a:solidFill>
              <a:srgbClr val="D8E4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4344" y="336499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0040" y="462686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AUC &gt; 0.96 across structurally different fraud environments.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 (§3.7 / §4.8)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Fraud Monitoring Dashboard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5720" cy="1005840"/>
          </a:xfrm>
          <a:prstGeom prst="rect">
            <a:avLst/>
          </a:prstGeom>
          <a:solidFill>
            <a:srgbClr val="2E9CBF"/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9C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124,382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1984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417320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417320"/>
            <a:ext cx="4572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1.31 %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67128" y="1984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417320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417320"/>
            <a:ext cx="4572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50208" y="1984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1417320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1417320"/>
            <a:ext cx="45720" cy="1005840"/>
          </a:xfrm>
          <a:prstGeom prst="rect">
            <a:avLst/>
          </a:prstGeom>
          <a:solidFill>
            <a:srgbClr val="2E9CBF"/>
          </a:solidFill>
          <a:ln w="12700">
            <a:solidFill>
              <a:srgbClr val="2E9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33288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9C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33288" y="19842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5303520" cy="2011680"/>
          </a:xfrm>
          <a:prstGeom prst="rect">
            <a:avLst/>
          </a:prstGeom>
          <a:solidFill>
            <a:srgbClr val="16244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 HIGH RISK ALERT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9992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TXN: a3f92b1c…   P(Fraud): 0.8741   Band: HIGH   Decision: BLOCK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2918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signals: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amount: +0.312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type_TRANSFER: +0.201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balance_drop_flag: +0.188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65176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        — single transaction, ~18 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30358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/predict/batch  — CSV upload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341985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  /ws/stream      — live push to all clients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380390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/metrics        — aggregate fraud stats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41879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/dashboard      — browser monitoring UI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RESULTS (§5.7)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is Deployment-Ready for Near Real-Time 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" cy="10058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630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18.3 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371600"/>
            <a:ext cx="22860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1371600"/>
            <a:ext cx="4572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14630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31.1 ms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35808" y="19385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22860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1371600"/>
            <a:ext cx="4572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14630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44.7 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04688" y="19385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 breakdown per transaction: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generation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01752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 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3814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base-model inference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343814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 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5876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Meta-model inference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85876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 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7939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(flagged)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42793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 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268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single CPU server without GPU acceleration.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with autoscaling would further reduce latency.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CONTRIBUTIONS (§6.3)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Types of Contribution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141732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Stacked ensemble (LR + RF + XGB + LGB + LSTM) outperforms any single learner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75564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engineered PaySim features occupy 4 of top 10 SHAP positions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209397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replicated across 3 structurally different datasets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C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pipeline from open datasets → real-time API → browser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85292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Three-tier risk banding (LOW / MEDIUM / HIGH) with SHAP per-alert explanation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319125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Deployable via Docker on GCP, AWS, or Azure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611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A8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Methodological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361188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Three-part imbalance strategy: SMOTE-ENN + class weighting + threshold tuning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950208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Time-based split prevents future-pattern leakage (Kaufman et al. 2012)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428853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MCC used alongside F1 for balanced evaluation on imbalanced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 (§6.4 / §6.5)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Constraints and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426464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Ghana data:  PaySim is a simulator — real Ghanaian transaction logs needed for local recalibration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drift:  No automatic retraining loop; fraud tactics evolve over time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56032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scope:  Sequences built for PaySim only; IEEE-CIS and Credit Card excluded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3127248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study:  Dashboard usability with real analyst teams not formally evaluated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160520" cy="3493008"/>
          </a:xfrm>
          <a:prstGeom prst="rect">
            <a:avLst/>
          </a:prstGeom>
          <a:solidFill>
            <a:srgbClr val="EBF5FF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78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Research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2646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Federated learning across mobile operators — privacy-preserving Ghana-specific training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Graph-based fraud detection — model multi-actor money laundering chains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Automated drift detection via population stability index + rolling model retraining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36758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Formal analyst usability study on SHAP explanation panel effectiveness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39712" y="0"/>
            <a:ext cx="54864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(§6.6)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Objectives — Answered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56232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 (LR + RF + XGB/LGB + LSTM) implemented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validated on three public datasets.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62072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0.887, AUC = 0.978 on PaySim; AUC &gt; 0.96 across 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— consistently outperforms baselines.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67912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with REST, WebSocket, and batch CSV.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SHAP alerts at ~18 ms mean latency.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572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4846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Fraud Detection &amp; Risk Monitoring System for Mobile Payments</dc:title>
  <dc:subject>PptxGenJS Presentation</dc:subject>
  <dc:creator>Fraud Detection Research</dc:creator>
  <cp:lastModifiedBy>Fraud Detection Research</cp:lastModifiedBy>
  <cp:revision>1</cp:revision>
  <dcterms:created xsi:type="dcterms:W3CDTF">2026-04-10T12:33:29Z</dcterms:created>
  <dcterms:modified xsi:type="dcterms:W3CDTF">2026-04-10T12:33:29Z</dcterms:modified>
</cp:coreProperties>
</file>